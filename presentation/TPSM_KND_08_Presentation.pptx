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ntonio Bold" charset="1" panose="02000803000000000000"/>
      <p:regular r:id="rId33"/>
    </p:embeddedFont>
    <p:embeddedFont>
      <p:font typeface="Montserrat Bold" charset="1" panose="00000800000000000000"/>
      <p:regular r:id="rId34"/>
    </p:embeddedFont>
    <p:embeddedFont>
      <p:font typeface="Montserrat" charset="1" panose="00000500000000000000"/>
      <p:regular r:id="rId35"/>
    </p:embeddedFont>
    <p:embeddedFont>
      <p:font typeface="Antonio" charset="1" panose="02000503000000000000"/>
      <p:regular r:id="rId36"/>
    </p:embeddedFont>
    <p:embeddedFont>
      <p:font typeface="Canva Sans" charset="1" panose="020B0503030501040103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75" r="0" b="-1667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" y="15240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75" r="0" b="-1667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648216" y="677532"/>
            <a:ext cx="5627808" cy="5109724"/>
          </a:xfrm>
          <a:custGeom>
            <a:avLst/>
            <a:gdLst/>
            <a:ahLst/>
            <a:cxnLst/>
            <a:rect r="r" b="b" t="t" l="l"/>
            <a:pathLst>
              <a:path h="5109724" w="5627808">
                <a:moveTo>
                  <a:pt x="0" y="0"/>
                </a:moveTo>
                <a:lnTo>
                  <a:pt x="5627809" y="0"/>
                </a:lnTo>
                <a:lnTo>
                  <a:pt x="5627809" y="5109725"/>
                </a:lnTo>
                <a:lnTo>
                  <a:pt x="0" y="5109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" t="0" r="-4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28700" y="860118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890578" y="7346566"/>
            <a:ext cx="1858909" cy="2073831"/>
          </a:xfrm>
          <a:custGeom>
            <a:avLst/>
            <a:gdLst/>
            <a:ahLst/>
            <a:cxnLst/>
            <a:rect r="r" b="b" t="t" l="l"/>
            <a:pathLst>
              <a:path h="2073831" w="1858909">
                <a:moveTo>
                  <a:pt x="1858908" y="2073830"/>
                </a:moveTo>
                <a:lnTo>
                  <a:pt x="0" y="2073830"/>
                </a:lnTo>
                <a:lnTo>
                  <a:pt x="0" y="0"/>
                </a:lnTo>
                <a:lnTo>
                  <a:pt x="1858908" y="0"/>
                </a:lnTo>
                <a:lnTo>
                  <a:pt x="1858908" y="20738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1" t="0" r="-15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05072" y="-200296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60964" y="880129"/>
            <a:ext cx="1858909" cy="2073831"/>
          </a:xfrm>
          <a:custGeom>
            <a:avLst/>
            <a:gdLst/>
            <a:ahLst/>
            <a:cxnLst/>
            <a:rect r="r" b="b" t="t" l="l"/>
            <a:pathLst>
              <a:path h="2073831" w="1858909">
                <a:moveTo>
                  <a:pt x="0" y="0"/>
                </a:moveTo>
                <a:lnTo>
                  <a:pt x="1858908" y="0"/>
                </a:lnTo>
                <a:lnTo>
                  <a:pt x="1858908" y="2073831"/>
                </a:lnTo>
                <a:lnTo>
                  <a:pt x="0" y="2073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1" t="0" r="-151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995417" y="5416267"/>
            <a:ext cx="5627808" cy="5109724"/>
          </a:xfrm>
          <a:custGeom>
            <a:avLst/>
            <a:gdLst/>
            <a:ahLst/>
            <a:cxnLst/>
            <a:rect r="r" b="b" t="t" l="l"/>
            <a:pathLst>
              <a:path h="5109724" w="5627808">
                <a:moveTo>
                  <a:pt x="5627808" y="5109725"/>
                </a:moveTo>
                <a:lnTo>
                  <a:pt x="0" y="5109725"/>
                </a:lnTo>
                <a:lnTo>
                  <a:pt x="0" y="0"/>
                </a:lnTo>
                <a:lnTo>
                  <a:pt x="5627808" y="0"/>
                </a:lnTo>
                <a:lnTo>
                  <a:pt x="5627808" y="510972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" t="0" r="-46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99165" y="914400"/>
            <a:ext cx="8489671" cy="312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6"/>
              </a:lnSpc>
            </a:pPr>
            <a:r>
              <a:rPr lang="en-US" sz="5969" b="true">
                <a:solidFill>
                  <a:srgbClr val="3D414D"/>
                </a:solidFill>
                <a:latin typeface="Antonio Bold"/>
                <a:ea typeface="Antonio Bold"/>
                <a:cs typeface="Antonio Bold"/>
                <a:sym typeface="Antonio Bold"/>
              </a:rPr>
              <a:t>Employees who feel a sense of belonging are more engaged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2594" y="4635941"/>
            <a:ext cx="9806730" cy="52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</a:pPr>
            <a:r>
              <a:rPr lang="en-US" sz="2850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- KND_08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3979594" y="5416266"/>
          <a:ext cx="10795000" cy="4254500"/>
        </p:xfrm>
        <a:graphic>
          <a:graphicData uri="http://schemas.openxmlformats.org/drawingml/2006/table">
            <a:tbl>
              <a:tblPr/>
              <a:tblGrid>
                <a:gridCol w="5397500"/>
                <a:gridCol w="5397500"/>
              </a:tblGrid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Student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IT23580176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K A G T N Waidyarathne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IT23642232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 R M P T Rathnayake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IT23728844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 D A K Mahagamage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IT23599154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P A Tennakoon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721862" y="562052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5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5" y="2073830"/>
                </a:lnTo>
                <a:lnTo>
                  <a:pt x="18589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7344" y="7525427"/>
            <a:ext cx="5396222" cy="3035375"/>
          </a:xfrm>
          <a:custGeom>
            <a:avLst/>
            <a:gdLst/>
            <a:ahLst/>
            <a:cxnLst/>
            <a:rect r="r" b="b" t="t" l="l"/>
            <a:pathLst>
              <a:path h="3035375" w="5396222">
                <a:moveTo>
                  <a:pt x="0" y="0"/>
                </a:moveTo>
                <a:lnTo>
                  <a:pt x="5396222" y="0"/>
                </a:lnTo>
                <a:lnTo>
                  <a:pt x="5396222" y="3035375"/>
                </a:lnTo>
                <a:lnTo>
                  <a:pt x="0" y="3035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333" r="0" b="-1733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08992" y="925380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7598" y="3188529"/>
            <a:ext cx="11526605" cy="489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364" indent="-253682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Many organis</a:t>
            </a:r>
            <a:r>
              <a:rPr lang="en-US" sz="234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ations struggle with low employee engagement and employee turnover.</a:t>
            </a:r>
          </a:p>
          <a:p>
            <a:pPr algn="just">
              <a:lnSpc>
                <a:spcPts val="3289"/>
              </a:lnSpc>
            </a:pPr>
          </a:p>
          <a:p>
            <a:pPr algn="just" marL="507364" indent="-253682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 sense of belonging in the workplace may influence how engaged employees feel.</a:t>
            </a:r>
          </a:p>
          <a:p>
            <a:pPr algn="just">
              <a:lnSpc>
                <a:spcPts val="3289"/>
              </a:lnSpc>
            </a:pPr>
          </a:p>
          <a:p>
            <a:pPr algn="just" marL="507364" indent="-253682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This study investigates whether employees who feel a stronger sense of belonging are more engaged.</a:t>
            </a:r>
          </a:p>
          <a:p>
            <a:pPr algn="just">
              <a:lnSpc>
                <a:spcPts val="3289"/>
              </a:lnSpc>
            </a:pPr>
          </a:p>
          <a:p>
            <a:pPr algn="just" marL="507364" indent="-253682" lvl="1">
              <a:lnSpc>
                <a:spcPts val="3289"/>
              </a:lnSpc>
              <a:buFont typeface="Arial"/>
              <a:buChar char="•"/>
            </a:pPr>
            <a:r>
              <a:rPr lang="en-US" sz="234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Yet it's unclear whether belonging directly predicts engagement or if both are symptoms of broader dissatisfaction</a:t>
            </a:r>
          </a:p>
          <a:p>
            <a:pPr algn="just">
              <a:lnSpc>
                <a:spcPts val="320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40400" y="2370904"/>
            <a:ext cx="14681002" cy="47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sz="276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276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Do employees who feel a stronger sense of belonging become more engaged?’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101227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2091" y="885825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OBJECTIVES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335504" y="7532984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201734" y="-127356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4421604" y="4014561"/>
                </a:moveTo>
                <a:lnTo>
                  <a:pt x="0" y="4014561"/>
                </a:lnTo>
                <a:lnTo>
                  <a:pt x="0" y="0"/>
                </a:lnTo>
                <a:lnTo>
                  <a:pt x="4421604" y="0"/>
                </a:lnTo>
                <a:lnTo>
                  <a:pt x="4421604" y="40145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33479" y="3054905"/>
            <a:ext cx="11526605" cy="477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4738" indent="-247369" lvl="1">
              <a:lnSpc>
                <a:spcPts val="3208"/>
              </a:lnSpc>
              <a:buFont typeface="Arial"/>
              <a:buChar char="•"/>
            </a:pPr>
            <a:r>
              <a:rPr lang="en-US" sz="229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To analyse</a:t>
            </a:r>
            <a:r>
              <a:rPr lang="en-US" sz="229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the relationship between employee belonging and engagement.</a:t>
            </a:r>
          </a:p>
          <a:p>
            <a:pPr algn="just">
              <a:lnSpc>
                <a:spcPts val="3208"/>
              </a:lnSpc>
            </a:pPr>
          </a:p>
          <a:p>
            <a:pPr algn="just" marL="494738" indent="-247369" lvl="1">
              <a:lnSpc>
                <a:spcPts val="3208"/>
              </a:lnSpc>
              <a:buFont typeface="Arial"/>
              <a:buChar char="•"/>
            </a:pPr>
            <a:r>
              <a:rPr lang="en-US" sz="229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To identify patterns in belonging and engagement scores across employee groups using Descriptive analysis.</a:t>
            </a:r>
          </a:p>
          <a:p>
            <a:pPr algn="just">
              <a:lnSpc>
                <a:spcPts val="3208"/>
              </a:lnSpc>
            </a:pPr>
          </a:p>
          <a:p>
            <a:pPr algn="just" marL="494738" indent="-247369" lvl="1">
              <a:lnSpc>
                <a:spcPts val="3208"/>
              </a:lnSpc>
              <a:buFont typeface="Arial"/>
              <a:buChar char="•"/>
            </a:pPr>
            <a:r>
              <a:rPr lang="en-US" sz="229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To determine whether differences in engagement and belonging are statistically significant using Inferential Analysis.</a:t>
            </a:r>
          </a:p>
          <a:p>
            <a:pPr algn="just">
              <a:lnSpc>
                <a:spcPts val="3208"/>
              </a:lnSpc>
            </a:pPr>
          </a:p>
          <a:p>
            <a:pPr algn="just" marL="494738" indent="-247369" lvl="1">
              <a:lnSpc>
                <a:spcPts val="3208"/>
              </a:lnSpc>
              <a:buFont typeface="Arial"/>
              <a:buChar char="•"/>
            </a:pPr>
            <a:r>
              <a:rPr lang="en-US" sz="229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To evaluate whether belonging can help explain employee engagement using Predictive Analysis.</a:t>
            </a:r>
          </a:p>
          <a:p>
            <a:pPr algn="just">
              <a:lnSpc>
                <a:spcPts val="3208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8429" y="1861499"/>
            <a:ext cx="11969318" cy="455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3739" indent="-25687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Dataset obtained from Kaggle</a:t>
            </a:r>
          </a:p>
          <a:p>
            <a:pPr algn="just">
              <a:lnSpc>
                <a:spcPts val="3331"/>
              </a:lnSpc>
            </a:pPr>
          </a:p>
          <a:p>
            <a:pPr algn="just" marL="513739" indent="-25687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Secondary</a:t>
            </a: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dataset related to employee workplace satisfaction and engagement.</a:t>
            </a:r>
          </a:p>
          <a:p>
            <a:pPr algn="just">
              <a:lnSpc>
                <a:spcPts val="3331"/>
              </a:lnSpc>
            </a:pPr>
          </a:p>
          <a:p>
            <a:pPr algn="just" marL="513739" indent="-25687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Dataset includes 35 columns, with employee attributes such as:</a:t>
            </a:r>
          </a:p>
          <a:p>
            <a:pPr algn="just">
              <a:lnSpc>
                <a:spcPts val="3331"/>
              </a:lnSpc>
            </a:pP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            - </a:t>
            </a:r>
            <a:r>
              <a:rPr lang="en-US" b="true" sz="2379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Job Involvment, </a:t>
            </a:r>
            <a:r>
              <a:rPr lang="en-US" b="true" sz="2379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Attrition, Job Satisfaction, Relationship     Satisfaction, and Environment Satisfaction</a:t>
            </a:r>
          </a:p>
          <a:p>
            <a:pPr algn="just">
              <a:lnSpc>
                <a:spcPts val="3331"/>
              </a:lnSpc>
            </a:pPr>
          </a:p>
          <a:p>
            <a:pPr algn="just" marL="513739" indent="-256870" lvl="1">
              <a:lnSpc>
                <a:spcPts val="3331"/>
              </a:lnSpc>
              <a:buFont typeface="Arial"/>
              <a:buChar char="•"/>
            </a:pPr>
            <a:r>
              <a:rPr lang="en-US" sz="2379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The dataset contains survey style responses from 1470 employees.</a:t>
            </a:r>
          </a:p>
          <a:p>
            <a:pPr algn="just">
              <a:lnSpc>
                <a:spcPts val="333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619736" y="6243555"/>
            <a:ext cx="10002378" cy="3500832"/>
          </a:xfrm>
          <a:custGeom>
            <a:avLst/>
            <a:gdLst/>
            <a:ahLst/>
            <a:cxnLst/>
            <a:rect r="r" b="b" t="t" l="l"/>
            <a:pathLst>
              <a:path h="3500832" w="10002378">
                <a:moveTo>
                  <a:pt x="0" y="0"/>
                </a:moveTo>
                <a:lnTo>
                  <a:pt x="10002378" y="0"/>
                </a:lnTo>
                <a:lnTo>
                  <a:pt x="10002378" y="3500832"/>
                </a:lnTo>
                <a:lnTo>
                  <a:pt x="0" y="3500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91179" y="501462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DATA COLLECTION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101227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DATA PREPROCESSING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335504" y="7532984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201734" y="-127356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4421604" y="4014561"/>
                </a:moveTo>
                <a:lnTo>
                  <a:pt x="0" y="4014561"/>
                </a:lnTo>
                <a:lnTo>
                  <a:pt x="0" y="0"/>
                </a:lnTo>
                <a:lnTo>
                  <a:pt x="4421604" y="0"/>
                </a:lnTo>
                <a:lnTo>
                  <a:pt x="4421604" y="40145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34600" y="3045380"/>
            <a:ext cx="14218801" cy="92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Data cleaning mean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s finding and fixing problems in a dataset so that the data is</a:t>
            </a:r>
          </a:p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accurate, consistent, and ready to be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analysed.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4600" y="4605924"/>
            <a:ext cx="557171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 steps performed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3086100" y="5143500"/>
          <a:ext cx="12623538" cy="4749190"/>
        </p:xfrm>
        <a:graphic>
          <a:graphicData uri="http://schemas.openxmlformats.org/drawingml/2006/table">
            <a:tbl>
              <a:tblPr/>
              <a:tblGrid>
                <a:gridCol w="3397139"/>
                <a:gridCol w="2659992"/>
                <a:gridCol w="6566407"/>
              </a:tblGrid>
              <a:tr h="10274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Step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Finding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5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Missing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action needed                                               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5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Duplic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 Rows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action needed                                                                 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Constant columns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Removed (EmployeeCount, Over18, StandardHours)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1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types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text columns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Converted Yes/No → 1/0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-1183104" y="7685384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101227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201734" y="-127356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4421604" y="4014561"/>
                </a:moveTo>
                <a:lnTo>
                  <a:pt x="0" y="4014561"/>
                </a:lnTo>
                <a:lnTo>
                  <a:pt x="0" y="0"/>
                </a:lnTo>
                <a:lnTo>
                  <a:pt x="4421604" y="0"/>
                </a:lnTo>
                <a:lnTo>
                  <a:pt x="4421604" y="40145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35504" y="7532984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34599" y="5365099"/>
            <a:ext cx="6965094" cy="4335771"/>
          </a:xfrm>
          <a:custGeom>
            <a:avLst/>
            <a:gdLst/>
            <a:ahLst/>
            <a:cxnLst/>
            <a:rect r="r" b="b" t="t" l="l"/>
            <a:pathLst>
              <a:path h="4335771" w="6965094">
                <a:moveTo>
                  <a:pt x="0" y="0"/>
                </a:moveTo>
                <a:lnTo>
                  <a:pt x="6965094" y="0"/>
                </a:lnTo>
                <a:lnTo>
                  <a:pt x="6965094" y="4335771"/>
                </a:lnTo>
                <a:lnTo>
                  <a:pt x="0" y="4335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6532" y="2925107"/>
            <a:ext cx="15674935" cy="92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Why Feature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Engineering?                                                                                                               </a:t>
            </a:r>
          </a:p>
          <a:p>
            <a:pPr algn="l" marL="572134" indent="-286067" lvl="1">
              <a:lnSpc>
                <a:spcPts val="3709"/>
              </a:lnSpc>
              <a:buFont typeface="Arial"/>
              <a:buChar char="•"/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The dataset had no direct "Belonging" or "Engagement" column, so we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cre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ated them.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4888" y="4042037"/>
            <a:ext cx="8881743" cy="565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 New Scores Created:</a:t>
            </a:r>
          </a:p>
          <a:p>
            <a:pPr algn="just">
              <a:lnSpc>
                <a:spcPts val="3620"/>
              </a:lnSpc>
            </a:pPr>
            <a:r>
              <a:rPr lang="en-US" sz="2586" u="sng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BelongingScore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24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RelationshipSatisfaction + EnvironmentSatisfaction) ÷ 2 Measures how included and valued an employee feels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625"/>
              </a:lnSpc>
            </a:pPr>
            <a:r>
              <a:rPr lang="en-US" sz="2589" u="sng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EngagementScore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24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JobInvolvement + JobSatisfaction) ÷ 2</a:t>
            </a:r>
            <a:r>
              <a:rPr lang="en-US" sz="2400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Measures how dedicated and satisfied an employee is with their job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620"/>
              </a:lnSpc>
            </a:pPr>
          </a:p>
          <a:p>
            <a:pPr algn="just">
              <a:lnSpc>
                <a:spcPts val="3620"/>
              </a:lnSpc>
            </a:pPr>
          </a:p>
          <a:p>
            <a:pPr algn="just">
              <a:lnSpc>
                <a:spcPts val="36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738524" y="4968859"/>
            <a:ext cx="425962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Final output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201302" y="5796269"/>
          <a:ext cx="9349012" cy="3400425"/>
        </p:xfrm>
        <a:graphic>
          <a:graphicData uri="http://schemas.openxmlformats.org/drawingml/2006/table">
            <a:tbl>
              <a:tblPr/>
              <a:tblGrid>
                <a:gridCol w="2315127"/>
                <a:gridCol w="1907316"/>
                <a:gridCol w="2447692"/>
                <a:gridCol w="2678877"/>
              </a:tblGrid>
              <a:tr h="1030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Median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Std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4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Belonging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48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Engagement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3972091" y="924179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DESCRIPTIVE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12038" y="4145508"/>
            <a:ext cx="11963634" cy="142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5624" indent="-222812" lvl="1">
              <a:lnSpc>
                <a:spcPts val="2889"/>
              </a:lnSpc>
              <a:buFont typeface="Arial"/>
              <a:buChar char="•"/>
            </a:pPr>
            <a:r>
              <a:rPr lang="en-US" sz="20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Ave</a:t>
            </a:r>
            <a:r>
              <a:rPr lang="en-US" sz="20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rage belonging and engagement scores were moderate across employees.</a:t>
            </a:r>
          </a:p>
          <a:p>
            <a:pPr algn="just">
              <a:lnSpc>
                <a:spcPts val="2889"/>
              </a:lnSpc>
            </a:pPr>
          </a:p>
          <a:p>
            <a:pPr algn="just" marL="445624" indent="-222812" lvl="1">
              <a:lnSpc>
                <a:spcPts val="2889"/>
              </a:lnSpc>
              <a:buFont typeface="Arial"/>
              <a:buChar char="•"/>
            </a:pPr>
            <a:r>
              <a:rPr lang="en-US" sz="20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Mean and median values were similar, suggesting balanced distributions.</a:t>
            </a:r>
          </a:p>
          <a:p>
            <a:pPr algn="just">
              <a:lnSpc>
                <a:spcPts val="288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912328" y="2612310"/>
            <a:ext cx="12463344" cy="92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Descriptive analysis helps </a:t>
            </a: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us understand patterns, distributions, and </a:t>
            </a:r>
          </a:p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b="true" sz="26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initial relationships between Belonging Score and Engagement Score.</a:t>
            </a:r>
            <a:r>
              <a:rPr lang="en-US" b="true" sz="2649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3466" y="3102530"/>
            <a:ext cx="11282072" cy="3870681"/>
          </a:xfrm>
          <a:custGeom>
            <a:avLst/>
            <a:gdLst/>
            <a:ahLst/>
            <a:cxnLst/>
            <a:rect r="r" b="b" t="t" l="l"/>
            <a:pathLst>
              <a:path h="3870681" w="11282072">
                <a:moveTo>
                  <a:pt x="0" y="0"/>
                </a:moveTo>
                <a:lnTo>
                  <a:pt x="11282072" y="0"/>
                </a:lnTo>
                <a:lnTo>
                  <a:pt x="11282072" y="3870681"/>
                </a:lnTo>
                <a:lnTo>
                  <a:pt x="0" y="387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89155" y="2942922"/>
            <a:ext cx="5911671" cy="4189897"/>
          </a:xfrm>
          <a:custGeom>
            <a:avLst/>
            <a:gdLst/>
            <a:ahLst/>
            <a:cxnLst/>
            <a:rect r="r" b="b" t="t" l="l"/>
            <a:pathLst>
              <a:path h="4189897" w="5911671">
                <a:moveTo>
                  <a:pt x="0" y="0"/>
                </a:moveTo>
                <a:lnTo>
                  <a:pt x="5911671" y="0"/>
                </a:lnTo>
                <a:lnTo>
                  <a:pt x="5911671" y="4189897"/>
                </a:lnTo>
                <a:lnTo>
                  <a:pt x="0" y="4189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37783" y="793340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DESCRIPTIVE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5704" y="2379083"/>
            <a:ext cx="13647976" cy="45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b="true" sz="265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Distribution &amp; Relationship Between Variables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2183" y="7246341"/>
            <a:ext cx="11963634" cy="304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As seen in the two histograms, score distributions we</a:t>
            </a: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re relatively centered around the middle values.</a:t>
            </a:r>
          </a:p>
          <a:p>
            <a:pPr algn="just">
              <a:lnSpc>
                <a:spcPts val="3029"/>
              </a:lnSpc>
            </a:pPr>
          </a:p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The scatter plot showed no clear linear relationship between belonging and engagement scores at independent level.</a:t>
            </a:r>
          </a:p>
          <a:p>
            <a:pPr algn="just">
              <a:lnSpc>
                <a:spcPts val="3029"/>
              </a:lnSpc>
            </a:pPr>
          </a:p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earson correlation coefficient was </a:t>
            </a:r>
            <a:r>
              <a:rPr lang="en-US" b="true" sz="2164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-0.002</a:t>
            </a: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, indicating almost no linear correlation.</a:t>
            </a:r>
          </a:p>
          <a:p>
            <a:pPr algn="just">
              <a:lnSpc>
                <a:spcPts val="302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10731" y="2490717"/>
            <a:ext cx="3933422" cy="6611104"/>
          </a:xfrm>
          <a:custGeom>
            <a:avLst/>
            <a:gdLst/>
            <a:ahLst/>
            <a:cxnLst/>
            <a:rect r="r" b="b" t="t" l="l"/>
            <a:pathLst>
              <a:path h="6611104" w="3933422">
                <a:moveTo>
                  <a:pt x="0" y="0"/>
                </a:moveTo>
                <a:lnTo>
                  <a:pt x="3933422" y="0"/>
                </a:lnTo>
                <a:lnTo>
                  <a:pt x="3933422" y="6611104"/>
                </a:lnTo>
                <a:lnTo>
                  <a:pt x="0" y="6611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203158" y="3102530"/>
          <a:ext cx="9962993" cy="3531387"/>
        </p:xfrm>
        <a:graphic>
          <a:graphicData uri="http://schemas.openxmlformats.org/drawingml/2006/table">
            <a:tbl>
              <a:tblPr/>
              <a:tblGrid>
                <a:gridCol w="3157972"/>
                <a:gridCol w="3447264"/>
                <a:gridCol w="3357758"/>
              </a:tblGrid>
              <a:tr h="13673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Belonging 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Engagement mean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1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Stayed 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(Attrition- 0)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3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Left (Attrition - 1)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972091" y="924179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DESCRIPTIVE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7097" y="6953085"/>
            <a:ext cx="11963634" cy="30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Employees who left the o</a:t>
            </a: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rganisation had lower belonging and engagement scores.</a:t>
            </a:r>
          </a:p>
          <a:p>
            <a:pPr algn="just">
              <a:lnSpc>
                <a:spcPts val="3029"/>
              </a:lnSpc>
            </a:pPr>
          </a:p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This suggests both factors decline together among disengaged employees.</a:t>
            </a:r>
          </a:p>
          <a:p>
            <a:pPr algn="just">
              <a:lnSpc>
                <a:spcPts val="3029"/>
              </a:lnSpc>
            </a:pPr>
          </a:p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escriptive analysis provides indirect support for the statement.</a:t>
            </a:r>
          </a:p>
          <a:p>
            <a:pPr algn="just">
              <a:lnSpc>
                <a:spcPts val="3029"/>
              </a:lnSpc>
            </a:pPr>
          </a:p>
          <a:p>
            <a:pPr algn="just" marL="467214" indent="-233607" lvl="1">
              <a:lnSpc>
                <a:spcPts val="3029"/>
              </a:lnSpc>
              <a:buFont typeface="Arial"/>
              <a:buChar char="•"/>
            </a:pPr>
            <a:r>
              <a:rPr lang="en-US" sz="216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Inferential analysis is needed to determine statistical significance.</a:t>
            </a:r>
          </a:p>
          <a:p>
            <a:pPr algn="just">
              <a:lnSpc>
                <a:spcPts val="288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58153" y="2581600"/>
            <a:ext cx="13875527" cy="45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</a:pPr>
            <a:r>
              <a:rPr lang="en-US" b="true" sz="269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Group-Level Findings &amp; Conclusion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101227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2091" y="885825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INFERENTIAL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25456" y="3592579"/>
            <a:ext cx="10837089" cy="1353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Infe</a:t>
            </a:r>
            <a:r>
              <a:rPr lang="en-US" sz="258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rential Analysis uses statistical tests to check if observed patterns are real or just by chance. Significance level used: α = 0.05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49485" y="7362175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5201734" y="-127356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4421604" y="4014561"/>
                </a:moveTo>
                <a:lnTo>
                  <a:pt x="0" y="4014561"/>
                </a:lnTo>
                <a:lnTo>
                  <a:pt x="0" y="0"/>
                </a:lnTo>
                <a:lnTo>
                  <a:pt x="4421604" y="0"/>
                </a:lnTo>
                <a:lnTo>
                  <a:pt x="4421604" y="40145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35272" y="2555552"/>
            <a:ext cx="7293565" cy="50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b="true" sz="297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What is Inferential Analysis?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2448" y="5355687"/>
            <a:ext cx="5571718" cy="89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1 — Pearson Correlation Test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42978" y="5355687"/>
            <a:ext cx="5571718" cy="43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2,3 —  Two Sample T-Test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92448" y="6318695"/>
            <a:ext cx="5571718" cy="31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Used to measure the strength and direction of relationship between BelongingScore and EngagementScore. </a:t>
            </a:r>
          </a:p>
          <a:p>
            <a:pPr algn="just">
              <a:lnSpc>
                <a:spcPts val="3620"/>
              </a:lnSpc>
            </a:pPr>
            <a:r>
              <a:rPr lang="en-US" sz="258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Two numerical variables → Pearson Correlation is the correct test.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0016" y="6204395"/>
            <a:ext cx="5571718" cy="226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0"/>
              </a:lnSpc>
            </a:pPr>
            <a:r>
              <a:rPr lang="en-US" sz="258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Used to compare means of two independent groups - Stayed vs Left. Tests whether the difference between groups is real or just by chance.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10852" y="4200595"/>
            <a:ext cx="7428603" cy="4277983"/>
          </a:xfrm>
          <a:custGeom>
            <a:avLst/>
            <a:gdLst/>
            <a:ahLst/>
            <a:cxnLst/>
            <a:rect r="r" b="b" t="t" l="l"/>
            <a:pathLst>
              <a:path h="4277983" w="7428603">
                <a:moveTo>
                  <a:pt x="0" y="0"/>
                </a:moveTo>
                <a:lnTo>
                  <a:pt x="7428603" y="0"/>
                </a:lnTo>
                <a:lnTo>
                  <a:pt x="7428603" y="4277983"/>
                </a:lnTo>
                <a:lnTo>
                  <a:pt x="0" y="4277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54" t="0" r="-295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2091" y="772264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INFERENTIAL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72512" y="2320764"/>
            <a:ext cx="7942976" cy="51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b="true" sz="30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TEST 1 — Pearson Correlation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7145" y="4394122"/>
            <a:ext cx="8684838" cy="546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48"/>
              </a:lnSpc>
            </a:pPr>
            <a:r>
              <a:rPr lang="en-US" sz="2820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H0:No </a:t>
            </a:r>
            <a:r>
              <a:rPr lang="en-US" b="true" sz="2820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relationship between BelongingScore and EngagementScore</a:t>
            </a:r>
          </a:p>
          <a:p>
            <a:pPr algn="just">
              <a:lnSpc>
                <a:spcPts val="3948"/>
              </a:lnSpc>
            </a:pPr>
            <a:r>
              <a:rPr lang="en-US" b="true" sz="2820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H1: There is a relationship</a:t>
            </a:r>
          </a:p>
          <a:p>
            <a:pPr algn="just">
              <a:lnSpc>
                <a:spcPts val="3948"/>
              </a:lnSpc>
            </a:pPr>
          </a:p>
          <a:p>
            <a:pPr algn="just">
              <a:lnSpc>
                <a:spcPts val="3948"/>
              </a:lnSpc>
            </a:pPr>
            <a:r>
              <a:rPr lang="en-US" sz="282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 = -0.0015 | p = 0.9531</a:t>
            </a:r>
          </a:p>
          <a:p>
            <a:pPr algn="just">
              <a:lnSpc>
                <a:spcPts val="3948"/>
              </a:lnSpc>
            </a:pPr>
          </a:p>
          <a:p>
            <a:pPr algn="just">
              <a:lnSpc>
                <a:spcPts val="3948"/>
              </a:lnSpc>
            </a:pPr>
            <a:r>
              <a:rPr lang="en-US" sz="282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p &gt; 0.05 → FAIL TO REJECT H0</a:t>
            </a:r>
          </a:p>
          <a:p>
            <a:pPr algn="just">
              <a:lnSpc>
                <a:spcPts val="3948"/>
              </a:lnSpc>
            </a:pPr>
          </a:p>
          <a:p>
            <a:pPr algn="just">
              <a:lnSpc>
                <a:spcPts val="3948"/>
              </a:lnSpc>
            </a:pPr>
            <a:r>
              <a:rPr lang="en-US" sz="2820" b="true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✖</a:t>
            </a:r>
            <a:r>
              <a:rPr lang="en-US" b="true" sz="2820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No significant relationship found at individual level</a:t>
            </a:r>
          </a:p>
          <a:p>
            <a:pPr algn="just">
              <a:lnSpc>
                <a:spcPts val="394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003660" y="882490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6032" y="3348912"/>
            <a:ext cx="1360253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Tested the relationship between BelongingScore and EngagementScore.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5828" y="79926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8772" y="4264967"/>
            <a:ext cx="8479228" cy="5871866"/>
          </a:xfrm>
          <a:custGeom>
            <a:avLst/>
            <a:gdLst/>
            <a:ahLst/>
            <a:cxnLst/>
            <a:rect r="r" b="b" t="t" l="l"/>
            <a:pathLst>
              <a:path h="5871866" w="8479228">
                <a:moveTo>
                  <a:pt x="0" y="0"/>
                </a:moveTo>
                <a:lnTo>
                  <a:pt x="8479228" y="0"/>
                </a:lnTo>
                <a:lnTo>
                  <a:pt x="8479228" y="5871866"/>
                </a:lnTo>
                <a:lnTo>
                  <a:pt x="0" y="5871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72091" y="499412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INFERENTIAL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30468" y="2151764"/>
            <a:ext cx="8695492" cy="49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b="true" sz="292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TEST 2 — Two Sample t-test: BelongingScore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086100" y="3714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1181" y="4129968"/>
            <a:ext cx="8627063" cy="592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2"/>
              </a:lnSpc>
            </a:pPr>
            <a:r>
              <a:rPr lang="en-US" sz="2801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H0: No diffe</a:t>
            </a:r>
            <a:r>
              <a:rPr lang="en-US" b="true" sz="2801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rence between Stayed and Left groups</a:t>
            </a:r>
          </a:p>
          <a:p>
            <a:pPr algn="just">
              <a:lnSpc>
                <a:spcPts val="3922"/>
              </a:lnSpc>
            </a:pPr>
            <a:r>
              <a:rPr lang="en-US" b="true" sz="2801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H1: There is a significant difference</a:t>
            </a:r>
          </a:p>
          <a:p>
            <a:pPr algn="just">
              <a:lnSpc>
                <a:spcPts val="3922"/>
              </a:lnSpc>
            </a:pP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Stayed mean = 2.753 | Left mean = 2.532</a:t>
            </a:r>
          </a:p>
          <a:p>
            <a:pPr algn="just">
              <a:lnSpc>
                <a:spcPts val="3922"/>
              </a:lnSpc>
            </a:pP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 = 4.06 | p = 0.0001</a:t>
            </a:r>
          </a:p>
          <a:p>
            <a:pPr algn="just">
              <a:lnSpc>
                <a:spcPts val="3922"/>
              </a:lnSpc>
            </a:pP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p &lt; 0.05 → REJECT H0</a:t>
            </a:r>
          </a:p>
          <a:p>
            <a:pPr algn="just">
              <a:lnSpc>
                <a:spcPts val="3922"/>
              </a:lnSpc>
            </a:pPr>
          </a:p>
          <a:p>
            <a:pPr algn="just">
              <a:lnSpc>
                <a:spcPts val="3922"/>
              </a:lnSpc>
            </a:pPr>
            <a:r>
              <a:rPr lang="en-US" sz="2801" b="true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✔ </a:t>
            </a:r>
            <a:r>
              <a:rPr lang="en-US" b="true" sz="2801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Significant difference exists</a:t>
            </a:r>
          </a:p>
          <a:p>
            <a:pPr algn="just">
              <a:lnSpc>
                <a:spcPts val="392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97062" y="3028950"/>
            <a:ext cx="15432524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the BelongingScore between employees who stayed and those who left.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7576" y="4301615"/>
            <a:ext cx="8627929" cy="5845422"/>
          </a:xfrm>
          <a:custGeom>
            <a:avLst/>
            <a:gdLst/>
            <a:ahLst/>
            <a:cxnLst/>
            <a:rect r="r" b="b" t="t" l="l"/>
            <a:pathLst>
              <a:path h="5845422" w="8627929">
                <a:moveTo>
                  <a:pt x="0" y="0"/>
                </a:moveTo>
                <a:lnTo>
                  <a:pt x="8627929" y="0"/>
                </a:lnTo>
                <a:lnTo>
                  <a:pt x="8627929" y="5845422"/>
                </a:lnTo>
                <a:lnTo>
                  <a:pt x="0" y="58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2091" y="592466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INFERENTIAL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36460" y="2303007"/>
            <a:ext cx="9215081" cy="49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0"/>
              </a:lnSpc>
              <a:spcBef>
                <a:spcPct val="0"/>
              </a:spcBef>
            </a:pPr>
            <a:r>
              <a:rPr lang="en-US" b="true" sz="292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TEST 3 — Two Sample t-test: EngagementScore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1711" y="4253990"/>
            <a:ext cx="8791628" cy="603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6"/>
              </a:lnSpc>
            </a:pPr>
            <a:r>
              <a:rPr lang="en-US" sz="2854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H0: No diffe</a:t>
            </a:r>
            <a:r>
              <a:rPr lang="en-US" b="true" sz="2854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rence between Stayed and Left groups</a:t>
            </a:r>
          </a:p>
          <a:p>
            <a:pPr algn="just">
              <a:lnSpc>
                <a:spcPts val="3996"/>
              </a:lnSpc>
            </a:pPr>
            <a:r>
              <a:rPr lang="en-US" b="true" sz="2854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H1: There is a significant difference</a:t>
            </a:r>
          </a:p>
          <a:p>
            <a:pPr algn="just">
              <a:lnSpc>
                <a:spcPts val="3996"/>
              </a:lnSpc>
            </a:pPr>
          </a:p>
          <a:p>
            <a:pPr algn="just">
              <a:lnSpc>
                <a:spcPts val="3996"/>
              </a:lnSpc>
            </a:pPr>
            <a:r>
              <a:rPr lang="en-US" sz="285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Stayed mean = 2.775 | Left mean = 2.494</a:t>
            </a:r>
          </a:p>
          <a:p>
            <a:pPr algn="just">
              <a:lnSpc>
                <a:spcPts val="3996"/>
              </a:lnSpc>
            </a:pPr>
          </a:p>
          <a:p>
            <a:pPr algn="just">
              <a:lnSpc>
                <a:spcPts val="3996"/>
              </a:lnSpc>
            </a:pPr>
            <a:r>
              <a:rPr lang="en-US" sz="285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 = 6.17 | p = 0.0000</a:t>
            </a:r>
          </a:p>
          <a:p>
            <a:pPr algn="just">
              <a:lnSpc>
                <a:spcPts val="3996"/>
              </a:lnSpc>
            </a:pPr>
          </a:p>
          <a:p>
            <a:pPr algn="just">
              <a:lnSpc>
                <a:spcPts val="3996"/>
              </a:lnSpc>
            </a:pPr>
            <a:r>
              <a:rPr lang="en-US" sz="285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p &lt; 0.05 → REJECT H0</a:t>
            </a:r>
          </a:p>
          <a:p>
            <a:pPr algn="just">
              <a:lnSpc>
                <a:spcPts val="3996"/>
              </a:lnSpc>
            </a:pPr>
          </a:p>
          <a:p>
            <a:pPr algn="just">
              <a:lnSpc>
                <a:spcPts val="3996"/>
              </a:lnSpc>
            </a:pPr>
            <a:r>
              <a:rPr lang="en-US" sz="2854" b="true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✔ </a:t>
            </a:r>
            <a:r>
              <a:rPr lang="en-US" b="true" sz="2854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Significant difference exists</a:t>
            </a:r>
          </a:p>
          <a:p>
            <a:pPr algn="just">
              <a:lnSpc>
                <a:spcPts val="399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510664" y="75078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9405" y="3307482"/>
            <a:ext cx="1589651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the EngagementScore between employees who stayed and those who left.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9835" y="3042528"/>
            <a:ext cx="7094165" cy="3538215"/>
          </a:xfrm>
          <a:custGeom>
            <a:avLst/>
            <a:gdLst/>
            <a:ahLst/>
            <a:cxnLst/>
            <a:rect r="r" b="b" t="t" l="l"/>
            <a:pathLst>
              <a:path h="3538215" w="7094165">
                <a:moveTo>
                  <a:pt x="0" y="0"/>
                </a:moveTo>
                <a:lnTo>
                  <a:pt x="7094165" y="0"/>
                </a:lnTo>
                <a:lnTo>
                  <a:pt x="7094165" y="3538215"/>
                </a:lnTo>
                <a:lnTo>
                  <a:pt x="0" y="353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2091" y="732330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INFERENTIAL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5200" y="2410864"/>
            <a:ext cx="1693783" cy="51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b="true" sz="302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Box Plot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38755" y="3534826"/>
            <a:ext cx="7220545" cy="1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6"/>
              </a:lnSpc>
            </a:pPr>
            <a:r>
              <a:rPr lang="en-US" sz="285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Stayed group has highe</a:t>
            </a:r>
            <a:r>
              <a:rPr lang="en-US" sz="2854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 scores than Left group for both BelongingScore and EngagementScore. This visually supports the t-test results.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11091" y="6905962"/>
            <a:ext cx="12327664" cy="319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4"/>
              </a:lnSpc>
            </a:pPr>
            <a:r>
              <a:rPr lang="en-US" b="true" sz="259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  <a:p>
            <a:pPr algn="just">
              <a:lnSpc>
                <a:spcPts val="3634"/>
              </a:lnSpc>
            </a:pPr>
            <a:r>
              <a:rPr lang="en-US" sz="2596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✖ </a:t>
            </a:r>
            <a:r>
              <a:rPr lang="en-US" sz="259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Correlation → No direct</a:t>
            </a:r>
            <a:r>
              <a:rPr lang="en-US" sz="259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relationship individually</a:t>
            </a:r>
          </a:p>
          <a:p>
            <a:pPr algn="just">
              <a:lnSpc>
                <a:spcPts val="3634"/>
              </a:lnSpc>
            </a:pPr>
            <a:r>
              <a:rPr lang="en-US" sz="2596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lang="en-US" sz="259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t-test Belonging → Significantly lower in Left group</a:t>
            </a:r>
          </a:p>
          <a:p>
            <a:pPr algn="just">
              <a:lnSpc>
                <a:spcPts val="3634"/>
              </a:lnSpc>
            </a:pPr>
            <a:r>
              <a:rPr lang="en-US" sz="2596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lang="en-US" sz="259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t-test Engagement → Significantly lower in Left group</a:t>
            </a:r>
          </a:p>
          <a:p>
            <a:pPr algn="just">
              <a:lnSpc>
                <a:spcPts val="3634"/>
              </a:lnSpc>
            </a:pPr>
            <a:r>
              <a:rPr lang="en-US" sz="259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📌 Result → No direct relationship individually, but both scores significantly lower in employees who left — PARTIAL SUPPORT for the statement.</a:t>
            </a:r>
          </a:p>
          <a:p>
            <a:pPr algn="just">
              <a:lnSpc>
                <a:spcPts val="363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204372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6995" y="3681719"/>
            <a:ext cx="14716481" cy="419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  <a:r>
              <a:rPr lang="en-US" b="true" sz="2647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6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Can belonging and engagement predict whether an employee will leave?</a:t>
            </a:r>
          </a:p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We built a predictive model that determines whether an employee will leave the organisation (Attrition) based on their BelongingScore, EngagementScore and other workplace factors.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Predictive modelling uses historical data to forecast future outcomes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Models used: Logistic Regression, Decision Tree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Target variable: Attrition — whether an employee left (1) or stayed (0)</a:t>
            </a: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138520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76619" y="3343689"/>
            <a:ext cx="6917005" cy="512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(Independant)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X - clues we give the model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BelongingScore 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EngagementScore 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WorkLifeBalance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OverTime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JobLevel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YearsAtCompany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12842" y="3681719"/>
            <a:ext cx="6917005" cy="13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  <a:r>
              <a:rPr lang="en-US" sz="2647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(Dependant)</a:t>
            </a:r>
          </a:p>
          <a:p>
            <a:pPr algn="just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y -  the answer we want to predict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Attrition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10163" y="2927692"/>
            <a:ext cx="6917005" cy="47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6"/>
              </a:lnSpc>
            </a:pPr>
            <a:r>
              <a:rPr lang="en-US" b="true" sz="27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Data Preparation — Defining X and 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2842" y="5086350"/>
            <a:ext cx="6917005" cy="279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  <a:r>
              <a:rPr lang="en-US" sz="2647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 / Test Split:</a:t>
            </a:r>
          </a:p>
          <a:p>
            <a:pPr algn="just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80% → Training set — 1,176 employees (model learns from these)</a:t>
            </a:r>
          </a:p>
          <a:p>
            <a:pPr algn="just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20% → Test set — 294 employees (model is tested on these)</a:t>
            </a:r>
          </a:p>
          <a:p>
            <a:pPr algn="just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663803" y="7513732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29"/>
                </a:moveTo>
                <a:lnTo>
                  <a:pt x="1858906" y="2073829"/>
                </a:lnTo>
                <a:lnTo>
                  <a:pt x="1858906" y="0"/>
                </a:lnTo>
                <a:lnTo>
                  <a:pt x="0" y="0"/>
                </a:lnTo>
                <a:lnTo>
                  <a:pt x="0" y="20738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204372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1572" y="2779947"/>
            <a:ext cx="12415721" cy="9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</a:pPr>
            <a:r>
              <a:rPr lang="en-US" b="true" sz="27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Building the Model</a:t>
            </a:r>
          </a:p>
          <a:p>
            <a:pPr algn="l">
              <a:lnSpc>
                <a:spcPts val="384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226995" y="3681719"/>
            <a:ext cx="14716481" cy="465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  <a:r>
              <a:rPr lang="en-US" b="true" sz="2647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— </a:t>
            </a: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</a:t>
            </a:r>
          </a:p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  <a:r>
              <a:rPr lang="en-US" b="true" sz="2647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Logistic Regression ? </a:t>
            </a: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Attrition is not a number on a scale , That is why Logistic Regression is the right choice here. It gives each employee a probability of leaving and makes a final yes or no decision</a:t>
            </a:r>
          </a:p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  <a:r>
              <a:rPr lang="en-US" b="true" sz="2647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not Linear Regression - </a:t>
            </a: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is designed to predict continuous numerical outcomes. But Attrition is not a number. An employee either left or they didn't. Linear Regression cannot make a yes or no decision.</a:t>
            </a: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73422" y="2839390"/>
            <a:ext cx="9085878" cy="6418910"/>
          </a:xfrm>
          <a:custGeom>
            <a:avLst/>
            <a:gdLst/>
            <a:ahLst/>
            <a:cxnLst/>
            <a:rect r="r" b="b" t="t" l="l"/>
            <a:pathLst>
              <a:path h="6418910" w="9085878">
                <a:moveTo>
                  <a:pt x="0" y="0"/>
                </a:moveTo>
                <a:lnTo>
                  <a:pt x="9085878" y="0"/>
                </a:lnTo>
                <a:lnTo>
                  <a:pt x="9085878" y="6418910"/>
                </a:lnTo>
                <a:lnTo>
                  <a:pt x="0" y="6418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034" r="0" b="-803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72091" y="1028766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8153" y="2440566"/>
            <a:ext cx="6917005" cy="699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  <a:r>
              <a:rPr lang="en-US" sz="2647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sz="2647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odel Evaluation &amp; Results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Accuracy of 86% - the model correctly identified 249 out 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      of 294 test employees</a:t>
            </a:r>
          </a:p>
          <a:p>
            <a:pPr algn="l">
              <a:lnSpc>
                <a:spcPts val="3706"/>
              </a:lnSpc>
            </a:pP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ROC-AUC of 0.79 - the model           has genuinely learned real      patterns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(ROC-AUC measures how well the  model separates employees who left from employees who stayed)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75158" y="2828958"/>
            <a:ext cx="7970513" cy="5934622"/>
          </a:xfrm>
          <a:custGeom>
            <a:avLst/>
            <a:gdLst/>
            <a:ahLst/>
            <a:cxnLst/>
            <a:rect r="r" b="b" t="t" l="l"/>
            <a:pathLst>
              <a:path h="5934622" w="7970513">
                <a:moveTo>
                  <a:pt x="0" y="0"/>
                </a:moveTo>
                <a:lnTo>
                  <a:pt x="7970513" y="0"/>
                </a:lnTo>
                <a:lnTo>
                  <a:pt x="7970513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72091" y="1028766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8153" y="2440566"/>
            <a:ext cx="6917005" cy="465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  <a:r>
              <a:rPr lang="en-US" sz="2647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What is</a:t>
            </a:r>
            <a:r>
              <a:rPr lang="en-US" sz="2647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 a Confusion Matrix?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 scoreboard showing exactly where the model was correct and where it made mistakes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102530"/>
            <a:ext cx="7455054" cy="3485238"/>
          </a:xfrm>
          <a:custGeom>
            <a:avLst/>
            <a:gdLst/>
            <a:ahLst/>
            <a:cxnLst/>
            <a:rect r="r" b="b" t="t" l="l"/>
            <a:pathLst>
              <a:path h="3485238" w="7455054">
                <a:moveTo>
                  <a:pt x="0" y="0"/>
                </a:moveTo>
                <a:lnTo>
                  <a:pt x="7455054" y="0"/>
                </a:lnTo>
                <a:lnTo>
                  <a:pt x="7455054" y="3485238"/>
                </a:lnTo>
                <a:lnTo>
                  <a:pt x="0" y="34852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7251145"/>
            <a:ext cx="7455054" cy="1133658"/>
          </a:xfrm>
          <a:custGeom>
            <a:avLst/>
            <a:gdLst/>
            <a:ahLst/>
            <a:cxnLst/>
            <a:rect r="r" b="b" t="t" l="l"/>
            <a:pathLst>
              <a:path h="1133658" w="7455054">
                <a:moveTo>
                  <a:pt x="0" y="0"/>
                </a:moveTo>
                <a:lnTo>
                  <a:pt x="7455054" y="0"/>
                </a:lnTo>
                <a:lnTo>
                  <a:pt x="7455054" y="1133659"/>
                </a:lnTo>
                <a:lnTo>
                  <a:pt x="0" y="11336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06" r="0" b="-90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6995" y="2964617"/>
            <a:ext cx="6917005" cy="699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b="true" sz="26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Key Finding &amp; Conclusion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Key Finding — Importance of BelongingScore &amp; EngagementScore</a:t>
            </a:r>
          </a:p>
          <a:p>
            <a:pPr algn="l">
              <a:lnSpc>
                <a:spcPts val="3706"/>
              </a:lnSpc>
            </a:pP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BelongingScore → negative coefficient → higher belonging = less likely to leave 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EngagementScore → negative coefficient → higher engagement = less likely to leave 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Attrition is the strongest signal overall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7400" y="2964617"/>
            <a:ext cx="6917005" cy="652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b="true" sz="26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Decision Tree — Model &amp; Results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What is a Decision Tree?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Makes predictions thr</a:t>
            </a: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ough a series of yes/no questions — like a flowchart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Simple, transparent and easy to interpret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  <a:p>
            <a:pPr algn="l">
              <a:lnSpc>
                <a:spcPts val="3706"/>
              </a:lnSpc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"Is BelongingScore &lt; 2.5?" → Yes → "Does employee work OverTime?" → Yes → Likely to leave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12842" y="2964617"/>
            <a:ext cx="6917005" cy="559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b="true" sz="26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Why Decision Tree alongside Logistic Regression?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To validate findings — if both models agree, the conclusion is str</a:t>
            </a: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onger</a:t>
            </a:r>
          </a:p>
          <a:p>
            <a:pPr algn="l" marL="571529" indent="-285764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Decision Tree shows feature importance scores 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52062" y="3194762"/>
            <a:ext cx="7652271" cy="6063538"/>
          </a:xfrm>
          <a:custGeom>
            <a:avLst/>
            <a:gdLst/>
            <a:ahLst/>
            <a:cxnLst/>
            <a:rect r="r" b="b" t="t" l="l"/>
            <a:pathLst>
              <a:path h="6063538" w="7652271">
                <a:moveTo>
                  <a:pt x="0" y="0"/>
                </a:moveTo>
                <a:lnTo>
                  <a:pt x="7652272" y="0"/>
                </a:lnTo>
                <a:lnTo>
                  <a:pt x="7652272" y="6063538"/>
                </a:lnTo>
                <a:lnTo>
                  <a:pt x="0" y="6063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74" r="0" b="-87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</p:spTree>
  </p:cSld>
  <p:clrMapOvr>
    <a:masterClrMapping/>
  </p:clrMapOvr>
  <p:transition spd="slow">
    <p:cover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58153" y="2964617"/>
            <a:ext cx="14371694" cy="325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6"/>
              </a:lnSpc>
            </a:pPr>
            <a:r>
              <a:rPr lang="en-US" b="true" sz="26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Model Comparison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884150" y="3738869"/>
          <a:ext cx="11176649" cy="4482516"/>
        </p:xfrm>
        <a:graphic>
          <a:graphicData uri="http://schemas.openxmlformats.org/drawingml/2006/table">
            <a:tbl>
              <a:tblPr/>
              <a:tblGrid>
                <a:gridCol w="3725550"/>
                <a:gridCol w="3725550"/>
                <a:gridCol w="3725550"/>
              </a:tblGrid>
              <a:tr h="16018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ntonio Bold"/>
                          <a:ea typeface="Antonio Bold"/>
                          <a:cs typeface="Antonio Bold"/>
                          <a:sym typeface="Antonio Bold"/>
                        </a:rPr>
                        <a:t>Model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ntonio Bold"/>
                          <a:ea typeface="Antonio Bold"/>
                          <a:cs typeface="Antonio Bold"/>
                          <a:sym typeface="Antonio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ntonio Bold"/>
                          <a:ea typeface="Antonio Bold"/>
                          <a:cs typeface="Antonio Bold"/>
                          <a:sym typeface="Antonio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86.1%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0.792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3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Decision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85.0%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0.754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PREDICTIVE MODEL</a:t>
            </a:r>
          </a:p>
        </p:txBody>
      </p:sp>
    </p:spTree>
  </p:cSld>
  <p:clrMapOvr>
    <a:masterClrMapping/>
  </p:clrMapOvr>
  <p:transition spd="slow">
    <p:cover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152339" y="7994687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32019" y="463987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1453" y="41417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83342" y="2183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1472" y="2588257"/>
            <a:ext cx="5428323" cy="644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b="true" sz="25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DESCRIPTIVE RESULTS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</a:t>
            </a: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longing &amp; Engagement do not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correlate at individual level.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 = -0.002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Employees who LEFT: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- BelongingScore = 2.532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- EngagementScore = 2.494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Employees who STAYED: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- BelongingScore = 2.753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- EngagementScore = 2.775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Both scores lower in employees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who left the organisation.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32185" y="2662340"/>
            <a:ext cx="5506664" cy="622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2"/>
              </a:lnSpc>
            </a:pPr>
            <a:r>
              <a:rPr lang="en-US" b="true" sz="260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INFERENTIAL RESULTS</a:t>
            </a:r>
          </a:p>
          <a:p>
            <a:pPr algn="just">
              <a:lnSpc>
                <a:spcPts val="3231"/>
              </a:lnSpc>
            </a:pP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Corre</a:t>
            </a: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lation Test: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 = -0.0015, p = 0.9531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✖ </a:t>
            </a: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No significant relationship</a:t>
            </a:r>
          </a:p>
          <a:p>
            <a:pPr algn="just">
              <a:lnSpc>
                <a:spcPts val="3231"/>
              </a:lnSpc>
            </a:pP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t-test BelongingScore: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 = 4.06, p = 0.0001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Significant difference found</a:t>
            </a:r>
          </a:p>
          <a:p>
            <a:pPr algn="just">
              <a:lnSpc>
                <a:spcPts val="3231"/>
              </a:lnSpc>
            </a:pP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t-test EngagementScore: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 = 6.17, p = 0.0000</a:t>
            </a:r>
          </a:p>
          <a:p>
            <a:pPr algn="just">
              <a:lnSpc>
                <a:spcPts val="3231"/>
              </a:lnSpc>
            </a:pPr>
            <a:r>
              <a:rPr lang="en-US" sz="2307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lang="en-US" sz="2307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Significant difference found</a:t>
            </a:r>
          </a:p>
          <a:p>
            <a:pPr algn="just">
              <a:lnSpc>
                <a:spcPts val="3231"/>
              </a:lnSpc>
            </a:pPr>
          </a:p>
          <a:p>
            <a:pPr algn="just">
              <a:lnSpc>
                <a:spcPts val="365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299234" y="2499717"/>
            <a:ext cx="4960066" cy="577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9"/>
              </a:lnSpc>
            </a:pPr>
            <a:r>
              <a:rPr lang="en-US" b="true" sz="220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PREDICTIVE RESULTS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</a:t>
            </a:r>
            <a:r>
              <a:rPr lang="en-US" b="true" sz="2206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l: Logistic Regression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Accuracy = 86.1%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ROC-AUC = 0.792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b="true" sz="2206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Model: Decision Tree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Accuracy = 85%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ROC-AUC = 0.754 </a:t>
            </a:r>
          </a:p>
          <a:p>
            <a:pPr algn="just">
              <a:lnSpc>
                <a:spcPts val="3089"/>
              </a:lnSpc>
            </a:pPr>
          </a:p>
          <a:p>
            <a:pPr algn="just">
              <a:lnSpc>
                <a:spcPts val="3089"/>
              </a:lnSpc>
            </a:pPr>
            <a:r>
              <a:rPr lang="en-US" sz="2206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✔ </a:t>
            </a:r>
            <a:r>
              <a:rPr lang="en-US" sz="2206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Higher belonging =  less attrition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400394" y="718447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0" y="2073830"/>
                </a:moveTo>
                <a:lnTo>
                  <a:pt x="1858906" y="2073830"/>
                </a:lnTo>
                <a:lnTo>
                  <a:pt x="1858906" y="0"/>
                </a:lnTo>
                <a:lnTo>
                  <a:pt x="0" y="0"/>
                </a:lnTo>
                <a:lnTo>
                  <a:pt x="0" y="20738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8700" y="1028700"/>
            <a:ext cx="1858906" cy="2073830"/>
          </a:xfrm>
          <a:custGeom>
            <a:avLst/>
            <a:gdLst/>
            <a:ahLst/>
            <a:cxnLst/>
            <a:rect r="r" b="b" t="t" l="l"/>
            <a:pathLst>
              <a:path h="2073830" w="1858906">
                <a:moveTo>
                  <a:pt x="1858906" y="0"/>
                </a:moveTo>
                <a:lnTo>
                  <a:pt x="0" y="0"/>
                </a:lnTo>
                <a:lnTo>
                  <a:pt x="0" y="2073830"/>
                </a:lnTo>
                <a:lnTo>
                  <a:pt x="1858906" y="2073830"/>
                </a:lnTo>
                <a:lnTo>
                  <a:pt x="185890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37388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0600" y="263588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FINAL DECISION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26656" y="2839204"/>
            <a:ext cx="1248546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300">
                <a:solidFill>
                  <a:srgbClr val="3D41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laim: "Employees who experience a sense of belonging are more engaged"</a:t>
            </a:r>
          </a:p>
          <a:p>
            <a:pPr algn="just">
              <a:lnSpc>
                <a:spcPts val="3220"/>
              </a:lnSpc>
            </a:pP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686368" y="3691244"/>
            <a:ext cx="11357205" cy="478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Employees who left scored significantly lower on both BelongingScore and EngagementScore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The differences are statistically significant not due to chance (p &lt; 0.001)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model predicted attrition with 86% accuracy BelongingScore and EngagementScore were among the strongest predictors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Belonging and engagement are two dimensions of the same workplace wellbeing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101227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60084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2091" y="1358027"/>
            <a:ext cx="10343818" cy="127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742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335504" y="7532984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0" y="0"/>
                </a:moveTo>
                <a:lnTo>
                  <a:pt x="4421604" y="0"/>
                </a:lnTo>
                <a:lnTo>
                  <a:pt x="4421604" y="4014561"/>
                </a:lnTo>
                <a:lnTo>
                  <a:pt x="0" y="40145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5201734" y="-1273568"/>
            <a:ext cx="4421604" cy="4014561"/>
          </a:xfrm>
          <a:custGeom>
            <a:avLst/>
            <a:gdLst/>
            <a:ahLst/>
            <a:cxnLst/>
            <a:rect r="r" b="b" t="t" l="l"/>
            <a:pathLst>
              <a:path h="4014561" w="4421604">
                <a:moveTo>
                  <a:pt x="4421604" y="4014561"/>
                </a:moveTo>
                <a:lnTo>
                  <a:pt x="0" y="4014561"/>
                </a:lnTo>
                <a:lnTo>
                  <a:pt x="0" y="0"/>
                </a:lnTo>
                <a:lnTo>
                  <a:pt x="4421604" y="0"/>
                </a:lnTo>
                <a:lnTo>
                  <a:pt x="4421604" y="40145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65398" y="3322202"/>
            <a:ext cx="11357205" cy="51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The statement, "Employees who feel a sense of belonging are more engaged" is partially true by this analysis.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The statement holds at the organisational level, where employees low on belonging and low on engagement are significantly more likely to leave, and both scores independently predict attrition.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Bu</a:t>
            </a: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t it is not true at the individual level, because belonging does not directly predict engagement score-to-score</a:t>
            </a:r>
          </a:p>
          <a:p>
            <a:pPr algn="just">
              <a:lnSpc>
                <a:spcPts val="3220"/>
              </a:lnSpc>
            </a:pP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3D414D"/>
                </a:solidFill>
                <a:latin typeface="Montserrat"/>
                <a:ea typeface="Montserrat"/>
                <a:cs typeface="Montserrat"/>
                <a:sym typeface="Montserrat"/>
              </a:rPr>
              <a:t>Belonging and engagement are two dimensions of the same workplace wellbeing</a:t>
            </a:r>
          </a:p>
          <a:p>
            <a:pPr algn="just">
              <a:lnSpc>
                <a:spcPts val="3220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675" r="0" b="-166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648216" y="677532"/>
            <a:ext cx="5627808" cy="5109724"/>
          </a:xfrm>
          <a:custGeom>
            <a:avLst/>
            <a:gdLst/>
            <a:ahLst/>
            <a:cxnLst/>
            <a:rect r="r" b="b" t="t" l="l"/>
            <a:pathLst>
              <a:path h="5109724" w="5627808">
                <a:moveTo>
                  <a:pt x="0" y="0"/>
                </a:moveTo>
                <a:lnTo>
                  <a:pt x="5627809" y="0"/>
                </a:lnTo>
                <a:lnTo>
                  <a:pt x="5627809" y="5109725"/>
                </a:lnTo>
                <a:lnTo>
                  <a:pt x="0" y="5109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" t="0" r="-4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0578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890578" y="7346566"/>
            <a:ext cx="1858909" cy="2073831"/>
          </a:xfrm>
          <a:custGeom>
            <a:avLst/>
            <a:gdLst/>
            <a:ahLst/>
            <a:cxnLst/>
            <a:rect r="r" b="b" t="t" l="l"/>
            <a:pathLst>
              <a:path h="2073831" w="1858909">
                <a:moveTo>
                  <a:pt x="1858908" y="2073830"/>
                </a:moveTo>
                <a:lnTo>
                  <a:pt x="0" y="2073830"/>
                </a:lnTo>
                <a:lnTo>
                  <a:pt x="0" y="0"/>
                </a:lnTo>
                <a:lnTo>
                  <a:pt x="1858908" y="0"/>
                </a:lnTo>
                <a:lnTo>
                  <a:pt x="1858908" y="20738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1" t="0" r="-15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05072" y="-200296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60964" y="880129"/>
            <a:ext cx="1858909" cy="2073831"/>
          </a:xfrm>
          <a:custGeom>
            <a:avLst/>
            <a:gdLst/>
            <a:ahLst/>
            <a:cxnLst/>
            <a:rect r="r" b="b" t="t" l="l"/>
            <a:pathLst>
              <a:path h="2073831" w="1858909">
                <a:moveTo>
                  <a:pt x="0" y="0"/>
                </a:moveTo>
                <a:lnTo>
                  <a:pt x="1858908" y="0"/>
                </a:lnTo>
                <a:lnTo>
                  <a:pt x="1858908" y="2073831"/>
                </a:lnTo>
                <a:lnTo>
                  <a:pt x="0" y="2073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1" t="0" r="-151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310912" y="4457957"/>
            <a:ext cx="5627808" cy="5109724"/>
          </a:xfrm>
          <a:custGeom>
            <a:avLst/>
            <a:gdLst/>
            <a:ahLst/>
            <a:cxnLst/>
            <a:rect r="r" b="b" t="t" l="l"/>
            <a:pathLst>
              <a:path h="5109724" w="5627808">
                <a:moveTo>
                  <a:pt x="5627809" y="5109725"/>
                </a:moveTo>
                <a:lnTo>
                  <a:pt x="0" y="5109725"/>
                </a:lnTo>
                <a:lnTo>
                  <a:pt x="0" y="0"/>
                </a:lnTo>
                <a:lnTo>
                  <a:pt x="5627809" y="0"/>
                </a:lnTo>
                <a:lnTo>
                  <a:pt x="5627809" y="510972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6" t="0" r="-4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58744" y="1641081"/>
            <a:ext cx="8370513" cy="37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18"/>
              </a:lnSpc>
            </a:pPr>
            <a:r>
              <a:rPr lang="en-US" sz="1979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THANK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70118" y="4149842"/>
            <a:ext cx="9547765" cy="37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18"/>
              </a:lnSpc>
            </a:pPr>
            <a:r>
              <a:rPr lang="en-US" sz="19798">
                <a:solidFill>
                  <a:srgbClr val="3D414D"/>
                </a:solidFill>
                <a:latin typeface="Antonio"/>
                <a:ea typeface="Antonio"/>
                <a:cs typeface="Antonio"/>
                <a:sym typeface="Antonio"/>
              </a:rPr>
              <a:t>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DAHHr27eefE</dc:identifier>
  <dcterms:modified xsi:type="dcterms:W3CDTF">2011-08-01T06:04:30Z</dcterms:modified>
  <cp:revision>1</cp:revision>
  <dc:title>Black White and Gold Geometric Data Analysis Presentation</dc:title>
</cp:coreProperties>
</file>